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</ns0:sldIdLst>
  <ns0:sldSz cx="12192000" cy="6858000" type="screen4x3"/>
  <ns0:notesSz cx="6858000" cy="9144000"/>
  <ns0:embeddedFontLst>
    <ns0:embeddedFont>
      <ns0:font typeface="Inter"/>
      <ns0:bold ns1:id="rIdFont11"/>
      <ns0:regular ns1:id="rIdFont12"/>
    </ns0:embeddedFont>
    <ns0:embeddedFont>
      <ns0:font typeface="JetBrains Mono"/>
      <ns0:bold ns1:id="rIdFont13"/>
      <ns0:regular ns1:id="rIdFont14"/>
    </ns0:embeddedFont>
    <ns0:embeddedFont>
      <ns0:font typeface="Plus Jakarta Sans"/>
      <ns0:bold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Font11" Type="http://schemas.openxmlformats.org/officeDocument/2006/relationships/font" Target="fonts/7fb8a3bd-8c1f-45d3-a710-568cf3150efd.fntdata" /><ns0:Relationship Id="rIdFont12" Type="http://schemas.openxmlformats.org/officeDocument/2006/relationships/font" Target="fonts/8af069a2-18e2-470e-a435-cefe5be98f70.fntdata" /><ns0:Relationship Id="rIdFont13" Type="http://schemas.openxmlformats.org/officeDocument/2006/relationships/font" Target="fonts/57caae1b-8e5c-4ea5-b04d-bc460e29a32f.fntdata" /><ns0:Relationship Id="rIdFont14" Type="http://schemas.openxmlformats.org/officeDocument/2006/relationships/font" Target="fonts/fa6061e8-7518-44aa-ba4d-effb8d0086d8.fntdata" /><ns0:Relationship Id="rIdFont15" Type="http://schemas.openxmlformats.org/officeDocument/2006/relationships/font" Target="fonts/700bef19-2c2b-4a56-9811-9b4d47eca73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B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276975"/>
            <a:ext cx="112776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25150" y="342900"/>
            <a:ext cx="1009650" cy="24765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13189" y="1622821"/>
            <a:ext cx="6221610" cy="4482703"/>
          </a:xfrm>
          <a:prstGeom prst="roundRect">
            <a:avLst>
              <a:gd name="adj" fmla="val 1699"/>
            </a:avLst>
          </a:prstGeom>
          <a:solidFill>
            <a:srgbClr val="1B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6975"/>
            <a:ext cx="11277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61950"/>
            <a:ext cx="3138487" cy="200025"/>
          </a:xfrm>
          <a:prstGeom prst="roundRect">
            <a:avLst>
              <a:gd name="adj" fmla="val 19047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22821"/>
            <a:ext cx="4827389" cy="2165151"/>
          </a:xfrm>
          <a:prstGeom prst="roundRect">
            <a:avLst>
              <a:gd name="adj" fmla="val 3519"/>
            </a:avLst>
          </a:prstGeom>
          <a:solidFill>
            <a:srgbClr val="1B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940373"/>
            <a:ext cx="4827389" cy="2165151"/>
          </a:xfrm>
          <a:prstGeom prst="roundRect">
            <a:avLst>
              <a:gd name="adj" fmla="val 3519"/>
            </a:avLst>
          </a:prstGeom>
          <a:solidFill>
            <a:srgbClr val="1B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13189" y="6096000"/>
            <a:ext cx="62216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13189" y="1622821"/>
            <a:ext cx="62216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13189" y="1622821"/>
            <a:ext cx="38100" cy="448270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5275" y="1622821"/>
            <a:ext cx="9525" cy="4482703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78448"/>
            <a:ext cx="482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622821"/>
            <a:ext cx="482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622821"/>
            <a:ext cx="38100" cy="2165151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75064" y="1622821"/>
            <a:ext cx="9525" cy="216515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096000"/>
            <a:ext cx="482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40373"/>
            <a:ext cx="482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40373"/>
            <a:ext cx="38100" cy="216515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5064" y="3940373"/>
            <a:ext cx="9525" cy="216515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41789" y="2185987"/>
            <a:ext cx="5792985" cy="352425"/>
          </a:xfrm>
          <a:prstGeom prst="roundRect">
            <a:avLst>
              <a:gd name="adj" fmla="val 16216"/>
            </a:avLst>
          </a:prstGeom>
          <a:solidFill>
            <a:srgbClr val="111A2C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41789" y="2845742"/>
            <a:ext cx="5792985" cy="352425"/>
          </a:xfrm>
          <a:prstGeom prst="roundRect">
            <a:avLst>
              <a:gd name="adj" fmla="val 16216"/>
            </a:avLst>
          </a:prstGeom>
          <a:solidFill>
            <a:srgbClr val="111A2C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41789" y="3505497"/>
            <a:ext cx="5792985" cy="352425"/>
          </a:xfrm>
          <a:prstGeom prst="roundRect">
            <a:avLst>
              <a:gd name="adj" fmla="val 16216"/>
            </a:avLst>
          </a:prstGeom>
          <a:solidFill>
            <a:srgbClr val="111A2C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41789" y="4165252"/>
            <a:ext cx="5792985" cy="352425"/>
          </a:xfrm>
          <a:prstGeom prst="roundRect">
            <a:avLst>
              <a:gd name="adj" fmla="val 16216"/>
            </a:avLst>
          </a:prstGeom>
          <a:solidFill>
            <a:srgbClr val="111A2C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41789" y="4825007"/>
            <a:ext cx="5792985" cy="352425"/>
          </a:xfrm>
          <a:prstGeom prst="roundRect">
            <a:avLst>
              <a:gd name="adj" fmla="val 16216"/>
            </a:avLst>
          </a:prstGeom>
          <a:solidFill>
            <a:srgbClr val="111A2C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1789" y="5484762"/>
            <a:ext cx="5792985" cy="352425"/>
          </a:xfrm>
          <a:prstGeom prst="roundRect">
            <a:avLst>
              <a:gd name="adj" fmla="val 16216"/>
            </a:avLst>
          </a:prstGeom>
          <a:solidFill>
            <a:srgbClr val="111A2C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04775" cy="1047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9575"/>
            <a:ext cx="119062" cy="1047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789" y="1803796"/>
            <a:ext cx="1619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214860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625280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4664" y="2305050"/>
            <a:ext cx="133350" cy="1143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4664" y="2964805"/>
            <a:ext cx="104775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4664" y="3624560"/>
            <a:ext cx="142875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4664" y="4284315"/>
            <a:ext cx="142875" cy="114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4664" y="4944070"/>
            <a:ext cx="142875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4664" y="5603825"/>
            <a:ext cx="114300" cy="1143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20400" y="3810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1F5F9"/>
                </a:solidFill>
                <a:latin typeface="JetBrains Mono"/>
              </a:rPr>
              <a:t>PAGE 01 /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381750"/>
            <a:ext cx="2428875" cy="1333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Inter"/>
              </a:rPr>
              <a:t>Governed Enterprise AI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5050" y="6381750"/>
            <a:ext cx="22621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Inter"/>
              </a:rPr>
              <a:t>KOHLER Unified Enterprise AI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762" y="400050"/>
            <a:ext cx="2809875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Plus Jakarta Sans"/>
              </a:rPr>
              <a:t>KOHLER UNIFIED ENTERPRISE AI • TRACK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19125"/>
            <a:ext cx="1025128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Plus Jakarta Sans"/>
              </a:rPr>
              <a:t>Problem, Vision &amp; Core Concept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952500"/>
            <a:ext cx="79057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A role-aware enterprise AI platform combining RBAC, RAG, live synthetic enterprise data, multi-agent orchestration, HITL approvals, and complete auditability.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79914" y="1784746"/>
            <a:ext cx="621208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93C5FD"/>
                </a:solidFill>
                <a:latin typeface="Plus Jakarta Sans"/>
              </a:rPr>
              <a:t>Core Concept Architecture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75" y="2195810"/>
            <a:ext cx="527938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CA5A5"/>
                </a:solidFill>
                <a:latin typeface="Plus Jakarta Sans"/>
              </a:rPr>
              <a:t>Enterprise 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472035"/>
            <a:ext cx="4494014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Enterprise information is distributed across policies, employee records, finance systems, and operational data. A generic chatbot can expose sensitive information or return stale values when disconnected from authorization and live state.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875" y="4606230"/>
            <a:ext cx="527938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6EE7B7"/>
                </a:solidFill>
                <a:latin typeface="Plus Jakarta Sans"/>
              </a:rPr>
              <a:t>Proposed Solution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882455"/>
            <a:ext cx="4494014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A single AI dashboard that understands the user's role, routes requests to specialist agents, retrieves policies via RAG, queries current structured data, and controls sensitive changes through human approval.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75164" y="2290762"/>
            <a:ext cx="1047750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Inter"/>
              </a:rPr>
              <a:t>RAG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7164" y="2290762"/>
            <a:ext cx="535483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E2E8F0"/>
                </a:solidFill>
                <a:latin typeface="Inter"/>
              </a:rPr>
              <a:t>Policies, manuals, and enterprise knowledge repositories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46589" y="2950517"/>
            <a:ext cx="1076325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34D399"/>
                </a:solidFill>
                <a:latin typeface="Inter"/>
              </a:rPr>
              <a:t>Live DB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7164" y="2950517"/>
            <a:ext cx="535483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E2E8F0"/>
                </a:solidFill>
                <a:latin typeface="Inter"/>
              </a:rPr>
              <a:t>Employees, inventory, finance, and operational records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4689" y="3610272"/>
            <a:ext cx="1038225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BBF24"/>
                </a:solidFill>
                <a:latin typeface="Inter"/>
              </a:rPr>
              <a:t>Agents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7164" y="3610272"/>
            <a:ext cx="535483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E2E8F0"/>
                </a:solidFill>
                <a:latin typeface="Inter"/>
              </a:rPr>
              <a:t>HR, Finance / Enterprise, and Operations specialist agents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4689" y="4270027"/>
            <a:ext cx="1038225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C084FC"/>
                </a:solidFill>
                <a:latin typeface="Inter"/>
              </a:rPr>
              <a:t>RBAC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37164" y="4270027"/>
            <a:ext cx="535483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E2E8F0"/>
                </a:solidFill>
                <a:latin typeface="Inter"/>
              </a:rPr>
              <a:t>Role-specific visibility and permissioned actions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4689" y="4929782"/>
            <a:ext cx="1038225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87171"/>
                </a:solidFill>
                <a:latin typeface="Inter"/>
              </a:rPr>
              <a:t>HITL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7164" y="4929782"/>
            <a:ext cx="535483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E2E8F0"/>
                </a:solidFill>
                <a:latin typeface="Inter"/>
              </a:rPr>
              <a:t>Human approval required before sensitive database mutations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56114" y="5589537"/>
            <a:ext cx="1066800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Audit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7164" y="5589537"/>
            <a:ext cx="535483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E2E8F0"/>
                </a:solidFill>
                <a:latin typeface="Inter"/>
              </a:rPr>
              <a:t>Traceable requester, approver, action, and timestamp logs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411485"/>
            <a:ext cx="11277600" cy="158115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76975"/>
            <a:ext cx="112776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25150" y="342900"/>
            <a:ext cx="1009650" cy="24765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27697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61950"/>
            <a:ext cx="2066925" cy="200025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8175" y="1802010"/>
            <a:ext cx="1852166" cy="104775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5141" y="1802010"/>
            <a:ext cx="2016472" cy="104775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16413" y="1802010"/>
            <a:ext cx="2490192" cy="1047750"/>
          </a:xfrm>
          <a:prstGeom prst="roundRect">
            <a:avLst>
              <a:gd name="adj" fmla="val 545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944391"/>
            <a:ext cx="3682900" cy="935087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4400" y="3944391"/>
            <a:ext cx="3683049" cy="935087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51750" y="3944391"/>
            <a:ext cx="3682900" cy="935087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564534"/>
            <a:ext cx="5581650" cy="712291"/>
          </a:xfrm>
          <a:prstGeom prst="roundRect">
            <a:avLst>
              <a:gd name="adj" fmla="val 10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53150" y="5564534"/>
            <a:ext cx="5581650" cy="712291"/>
          </a:xfrm>
          <a:prstGeom prst="roundRect">
            <a:avLst>
              <a:gd name="adj" fmla="val 10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39980" y="1802010"/>
            <a:ext cx="3613844" cy="266700"/>
          </a:xfrm>
          <a:prstGeom prst="roundRect">
            <a:avLst>
              <a:gd name="adj" fmla="val 2142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9980" y="2125860"/>
            <a:ext cx="3613844" cy="266700"/>
          </a:xfrm>
          <a:prstGeom prst="roundRect">
            <a:avLst>
              <a:gd name="adj" fmla="val 2142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39980" y="2449710"/>
            <a:ext cx="3613844" cy="400050"/>
          </a:xfrm>
          <a:prstGeom prst="roundRect">
            <a:avLst>
              <a:gd name="adj" fmla="val 14285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0075" y="5688359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6025" y="5688359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0075" y="40682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97275" y="40682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4625" y="40682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573410"/>
            <a:ext cx="1714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35510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00800"/>
            <a:ext cx="104775" cy="1047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575"/>
            <a:ext cx="128587" cy="1047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4641" y="2268735"/>
            <a:ext cx="76200" cy="114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5913" y="2268735"/>
            <a:ext cx="76200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0905" y="2268735"/>
            <a:ext cx="104775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820400" y="3810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JetBrains Mono"/>
              </a:rPr>
              <a:t>PAGE 02 /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1554360"/>
            <a:ext cx="11306175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Hybrid Enterprise Intelligence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106935"/>
            <a:ext cx="11734800" cy="1714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Differentiating Design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81750"/>
            <a:ext cx="2726531" cy="1333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Multi-Agent Orchestration &amp;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5050" y="6381750"/>
            <a:ext cx="22621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KOHLER Unified Enterprise AI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287" y="400050"/>
            <a:ext cx="1728787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8FAFC"/>
                </a:solidFill>
                <a:latin typeface="Plus Jakarta Sans"/>
              </a:rPr>
              <a:t>ARCHITECTURE &amp;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9125"/>
            <a:ext cx="9701212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Approach &amp; 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952500"/>
            <a:ext cx="9239250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Hybrid Enterprise Intelligence uniting multi-department state separation, strict RBAC authorization, and executable approvals.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622" y="2102048"/>
            <a:ext cx="205327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Inter"/>
              </a:rPr>
              <a:t>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7622" y="2273498"/>
            <a:ext cx="205327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Question / Request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22" y="2435423"/>
            <a:ext cx="205327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Data queries or changes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4050" y="2102048"/>
            <a:ext cx="225865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284C7"/>
                </a:solidFill>
                <a:latin typeface="Inter"/>
              </a:rPr>
              <a:t>REACT 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4050" y="2273498"/>
            <a:ext cx="225865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Enterprise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4050" y="2435423"/>
            <a:ext cx="225865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Chat • Approvals • Data entry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4201" y="2102048"/>
            <a:ext cx="287461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38BDF8"/>
                </a:solidFill>
                <a:latin typeface="Inter"/>
              </a:rPr>
              <a:t>FASTAPI + JWT/RBAC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4201" y="2273498"/>
            <a:ext cx="28746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Central Orchestrator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4201" y="2435423"/>
            <a:ext cx="287461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94A3B8"/>
                </a:solidFill>
                <a:latin typeface="Inter"/>
              </a:rPr>
              <a:t>Auth check • Action routing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075" y="4068216"/>
            <a:ext cx="3492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Policy vs. State Separation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075" y="4315866"/>
            <a:ext cx="3492400" cy="43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b="0" sz="825" i="0" u="none">
                <a:solidFill>
                  <a:srgbClr val="475569"/>
                </a:solidFill>
                <a:latin typeface="Inter"/>
              </a:rPr>
              <a:t>RAG is strictly used for policy documents and knowledge manuals, while dedicated live database tools fetch real-time enterprise values.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7275" y="4068216"/>
            <a:ext cx="3492549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Auth Prior to Retrieval/Action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7275" y="4315866"/>
            <a:ext cx="3492549" cy="2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b="0" sz="825" i="0" u="none">
                <a:solidFill>
                  <a:srgbClr val="475569"/>
                </a:solidFill>
                <a:latin typeface="Inter"/>
              </a:rPr>
              <a:t>The backend validates the user's role and permissions before any protected information is retrieved or mutations are processed.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4625" y="4068216"/>
            <a:ext cx="34924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Executable Approval Control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4625" y="4315866"/>
            <a:ext cx="3492400" cy="2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b="0" sz="825" i="0" u="none">
                <a:solidFill>
                  <a:srgbClr val="475569"/>
                </a:solidFill>
                <a:latin typeface="Inter"/>
              </a:rPr>
              <a:t>An approved HITL operation automatically commits and updates live structured data rather than simply creating a static text log.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88359"/>
            <a:ext cx="495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B45309"/>
                </a:solidFill>
                <a:latin typeface="Inter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3150" y="5688359"/>
            <a:ext cx="4953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B45309"/>
                </a:solidFill>
                <a:latin typeface="Inter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4755" y="1868685"/>
            <a:ext cx="18097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D4ED8"/>
                </a:solidFill>
                <a:latin typeface="Inter"/>
              </a:rPr>
              <a:t>Unstructured: RAG Retrieval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34575" y="1878210"/>
            <a:ext cx="189309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B82F6"/>
                </a:solidFill>
                <a:latin typeface="Inter"/>
              </a:rPr>
              <a:t>HR, Finance &amp; Operations Policies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4755" y="2192535"/>
            <a:ext cx="196453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5803D"/>
                </a:solidFill>
                <a:latin typeface="Inter"/>
              </a:rPr>
              <a:t>Structured: Live SQL Database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86925" y="2202060"/>
            <a:ext cx="220265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0F172A"/>
                </a:solidFill>
                <a:latin typeface="Inter"/>
              </a:rPr>
              <a:t>Employees, Inventory &amp; Financial State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4755" y="2516385"/>
            <a:ext cx="16002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2410C"/>
                </a:solidFill>
                <a:latin typeface="Inter"/>
              </a:rPr>
              <a:t>Controlled Action: HITL + Mutation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49705" y="2535435"/>
            <a:ext cx="19945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EA580C"/>
                </a:solidFill>
                <a:latin typeface="Inter"/>
              </a:rPr>
              <a:t>Submit → Validate → Approve → Execute → Audit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068216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0369A1"/>
                </a:solidFill>
                <a:latin typeface="Inter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4400" y="4068216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0369A1"/>
                </a:solidFill>
                <a:latin typeface="Inter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51750" y="4068216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0369A1"/>
                </a:solidFill>
                <a:latin typeface="Inter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925" y="5688359"/>
            <a:ext cx="6215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One Interface, Multiple Departments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925" y="5859809"/>
            <a:ext cx="5067300" cy="2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b="0" sz="825" i="0" u="none">
                <a:solidFill>
                  <a:srgbClr val="475569"/>
                </a:solidFill>
                <a:latin typeface="Inter"/>
              </a:rPr>
              <a:t>Users interact with a single dashboard while the intelligent orchestrator seamlessly delegates tasks to specialist department agents.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9875" y="5688359"/>
            <a:ext cx="5572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End-to-End Action Traceability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9875" y="5859809"/>
            <a:ext cx="5067300" cy="2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b="0" sz="825" i="0" u="none">
                <a:solidFill>
                  <a:srgbClr val="475569"/>
                </a:solidFill>
                <a:latin typeface="Inter"/>
              </a:rPr>
              <a:t>All sensitive mutations generate a complete audit trail containing requester ID, approver, specific action, status, and timestamp.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76975"/>
            <a:ext cx="112776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25150" y="342900"/>
            <a:ext cx="1009650" cy="24765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16587" y="1411485"/>
            <a:ext cx="6418212" cy="4732139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27697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61950"/>
            <a:ext cx="2309812" cy="200025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11485"/>
            <a:ext cx="4687937" cy="3627239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5153025"/>
            <a:ext cx="4687937" cy="99060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78512" y="178296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78512" y="2234654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78512" y="268634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78512" y="313804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78512" y="3589734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78512" y="404142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78512" y="449312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78512" y="4944814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78512" y="539650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78512" y="584820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04775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575"/>
            <a:ext cx="147637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512" y="1549598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1549598"/>
            <a:ext cx="15240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5291137"/>
            <a:ext cx="123825" cy="123825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00075" y="1763910"/>
          <a:ext cx="4402187" cy="1743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57250"/>
                <a:gridCol w="3544937"/>
              </a:tblGrid>
              <a:tr h="217884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0F172A"/>
                          </a:solidFill>
                          <a:latin typeface="JetBrains Mono"/>
                        </a:rPr>
                        <a:t>React + Vite + JavaScript + CSS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7884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Backend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0F172A"/>
                          </a:solidFill>
                          <a:latin typeface="JetBrains Mono"/>
                        </a:rPr>
                        <a:t>Python + FastAPI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7884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Database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0F172A"/>
                          </a:solidFill>
                          <a:latin typeface="JetBrains Mono"/>
                        </a:rPr>
                        <a:t>SQLite + SQLAlchemy (Local Prototype)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7884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Auth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0F172A"/>
                          </a:solidFill>
                          <a:latin typeface="JetBrains Mono"/>
                        </a:rPr>
                        <a:t>JWT + HTTP Bearer Tokens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7884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AI / LLM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0F172A"/>
                          </a:solidFill>
                          <a:latin typeface="JetBrains Mono"/>
                        </a:rPr>
                        <a:t>Ollama + Qwen2.5-Coder 3B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7884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Retrieval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0F172A"/>
                          </a:solidFill>
                          <a:latin typeface="JetBrains Mono"/>
                        </a:rPr>
                        <a:t>LangChain + Vector Store / Embeddings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7884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0F172A"/>
                          </a:solidFill>
                          <a:latin typeface="JetBrains Mono"/>
                        </a:rPr>
                        <a:t>Intent Detection + Multi-Agent Orchestration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7887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0F172A"/>
                          </a:solidFill>
                          <a:latin typeface="JetBrains Mono"/>
                        </a:rPr>
                        <a:t>RBAC + HITL + Audit Logging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0820400" y="3810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JetBrains Mono"/>
              </a:rPr>
              <a:t>PAGE 03 /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81750"/>
            <a:ext cx="2309812" cy="1333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Local-First Prototype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5050" y="6381750"/>
            <a:ext cx="22621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KOHLER Unified Enterprise AI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337" y="400050"/>
            <a:ext cx="1952625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8FAFC"/>
                </a:solidFill>
                <a:latin typeface="Plus Jakarta Sans"/>
              </a:rPr>
              <a:t>IMPLEMENTATION &amp; 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9125"/>
            <a:ext cx="9263657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Technical 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952500"/>
            <a:ext cx="8822531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Full-stack technology stack implementation combined with a 10-step end-to-end execution workflow and UX feasibility.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78537" y="1535310"/>
            <a:ext cx="6513462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End-to-End Execution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75" y="1535310"/>
            <a:ext cx="5274133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Technology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5276850"/>
            <a:ext cx="5302708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Plus Jakarta Sans"/>
              </a:rPr>
              <a:t>UX &amp; Technical Feasibility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075" y="5486400"/>
            <a:ext cx="22581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5803D"/>
                </a:solidFill>
                <a:latin typeface="Inter"/>
              </a:rPr>
              <a:t>Role-Aware: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Controls match logged-in designation.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9194" y="5486400"/>
            <a:ext cx="225831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5803D"/>
                </a:solidFill>
                <a:latin typeface="Inter"/>
              </a:rPr>
              <a:t>Natural Language: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No SQL or API knowledge needed.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075" y="5791200"/>
            <a:ext cx="22581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5803D"/>
                </a:solidFill>
                <a:latin typeface="Inter"/>
              </a:rPr>
              <a:t>Controlled Writes: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Form validation &amp; approval routing.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9194" y="5791200"/>
            <a:ext cx="225831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5803D"/>
                </a:solidFill>
                <a:latin typeface="Inter"/>
              </a:rPr>
              <a:t>Local-First: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Synthetic data; zero paid API costs.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5637" y="1782960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6162" y="1802010"/>
            <a:ext cx="35242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User logs in → System issues authenticated </a:t>
            </a:r>
            <a:r>
              <a:rPr b="1" sz="825" i="0" u="none">
                <a:solidFill>
                  <a:srgbClr val="1E293B"/>
                </a:solidFill>
                <a:latin typeface="Inter"/>
              </a:rPr>
              <a:t>JWT token</a:t>
            </a:r>
            <a:r>
              <a:rPr b="0" sz="825" i="0" u="none">
                <a:solidFill>
                  <a:srgbClr val="1E293B"/>
                </a:solidFill>
                <a:latin typeface="Inter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5637" y="2234654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6162" y="2253704"/>
            <a:ext cx="36195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Backend resolves user </a:t>
            </a:r>
            <a:r>
              <a:rPr b="1" sz="825" i="0" u="none">
                <a:solidFill>
                  <a:srgbClr val="1E293B"/>
                </a:solidFill>
                <a:latin typeface="Inter"/>
              </a:rPr>
              <a:t>designation and role permissions</a:t>
            </a:r>
            <a:r>
              <a:rPr b="0" sz="825" i="0" u="none">
                <a:solidFill>
                  <a:srgbClr val="1E293B"/>
                </a:solidFill>
                <a:latin typeface="Inter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5637" y="2686347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26162" y="2705397"/>
            <a:ext cx="350043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User submits question or data-change request via chat.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5637" y="3138041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6162" y="3157091"/>
            <a:ext cx="373856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Orchestrator detects target </a:t>
            </a:r>
            <a:r>
              <a:rPr b="1" sz="825" i="0" u="none">
                <a:solidFill>
                  <a:srgbClr val="1E293B"/>
                </a:solidFill>
                <a:latin typeface="Inter"/>
              </a:rPr>
              <a:t>department + read/write intent</a:t>
            </a:r>
            <a:r>
              <a:rPr b="0" sz="825" i="0" u="none">
                <a:solidFill>
                  <a:srgbClr val="1E293B"/>
                </a:solidFill>
                <a:latin typeface="Inter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5637" y="3589734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26162" y="3608784"/>
            <a:ext cx="370284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Agent invokes </a:t>
            </a:r>
            <a:r>
              <a:rPr b="1" sz="825" i="0" u="none">
                <a:solidFill>
                  <a:srgbClr val="1E293B"/>
                </a:solidFill>
                <a:latin typeface="Inter"/>
              </a:rPr>
              <a:t>RAG for docs</a:t>
            </a:r>
            <a:r>
              <a:rPr b="0" sz="825" i="0" u="none">
                <a:solidFill>
                  <a:srgbClr val="1E293B"/>
                </a:solidFill>
                <a:latin typeface="Inter"/>
              </a:rPr>
              <a:t> or </a:t>
            </a:r>
            <a:r>
              <a:rPr b="1" sz="825" i="0" u="none">
                <a:solidFill>
                  <a:srgbClr val="1E293B"/>
                </a:solidFill>
                <a:latin typeface="Inter"/>
              </a:rPr>
              <a:t>Database tool</a:t>
            </a:r>
            <a:r>
              <a:rPr b="0" sz="825" i="0" u="none">
                <a:solidFill>
                  <a:srgbClr val="1E293B"/>
                </a:solidFill>
                <a:latin typeface="Inter"/>
              </a:rPr>
              <a:t> for live state.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5637" y="4041427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6162" y="4060477"/>
            <a:ext cx="35242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Unauthorized requests are </a:t>
            </a:r>
            <a:r>
              <a:rPr b="1" sz="825" i="0" u="none">
                <a:solidFill>
                  <a:srgbClr val="1E293B"/>
                </a:solidFill>
                <a:latin typeface="Inter"/>
              </a:rPr>
              <a:t>rejected at application layer</a:t>
            </a:r>
            <a:r>
              <a:rPr b="0" sz="825" i="0" u="none">
                <a:solidFill>
                  <a:srgbClr val="1E293B"/>
                </a:solidFill>
                <a:latin typeface="Inter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5637" y="4493121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8FAFC"/>
                </a:solidFill>
                <a:latin typeface="Inter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26162" y="4512171"/>
            <a:ext cx="38576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Sensitive writes trigger a </a:t>
            </a:r>
            <a:r>
              <a:rPr b="1" sz="825" i="0" u="none">
                <a:solidFill>
                  <a:srgbClr val="1E293B"/>
                </a:solidFill>
                <a:latin typeface="Inter"/>
              </a:rPr>
              <a:t>Human-In-The-Loop (HITL)</a:t>
            </a:r>
            <a:r>
              <a:rPr b="0" sz="825" i="0" u="none">
                <a:solidFill>
                  <a:srgbClr val="1E293B"/>
                </a:solidFill>
                <a:latin typeface="Inter"/>
              </a:rPr>
              <a:t> request.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5637" y="4944814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8FAFC"/>
                </a:solidFill>
                <a:latin typeface="Inter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26162" y="4963864"/>
            <a:ext cx="37147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Authorized approver reviews request and approves/rejects.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5637" y="5396507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8FAFC"/>
                </a:solidFill>
                <a:latin typeface="Inter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26162" y="5415557"/>
            <a:ext cx="388143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293B"/>
                </a:solidFill>
                <a:latin typeface="Inter"/>
              </a:rPr>
              <a:t>Approved mutation is committed directly to the live database.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5637" y="5848201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750" i="0" u="none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26162" y="5867251"/>
            <a:ext cx="408384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Inter"/>
              </a:rPr>
              <a:t>Audit record created</a:t>
            </a:r>
            <a:r>
              <a:rPr b="0" sz="825" i="0" u="none">
                <a:solidFill>
                  <a:srgbClr val="1E293B"/>
                </a:solidFill>
                <a:latin typeface="Inter"/>
              </a:rPr>
              <a:t>; subsequent queries retrieve updated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76975"/>
            <a:ext cx="112776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25150" y="342900"/>
            <a:ext cx="1009650" cy="24765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11485"/>
            <a:ext cx="3752850" cy="4732139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62450" y="1411485"/>
            <a:ext cx="4068067" cy="4732139"/>
          </a:xfrm>
          <a:prstGeom prst="roundRect">
            <a:avLst>
              <a:gd name="adj" fmla="val 18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697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61950"/>
            <a:ext cx="2595562" cy="200025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82917" y="1411485"/>
            <a:ext cx="3151882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82917" y="2573535"/>
            <a:ext cx="3151882" cy="3570089"/>
          </a:xfrm>
          <a:prstGeom prst="roundRect">
            <a:avLst>
              <a:gd name="adj" fmla="val 241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5325" y="1763910"/>
            <a:ext cx="3782317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5325" y="2340471"/>
            <a:ext cx="3782317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05325" y="2917031"/>
            <a:ext cx="3782317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5325" y="3493591"/>
            <a:ext cx="3782317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5325" y="4070151"/>
            <a:ext cx="3782317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5325" y="4646711"/>
            <a:ext cx="3782317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5325" y="5223271"/>
            <a:ext cx="3782317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5325" y="5799832"/>
            <a:ext cx="3782317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7620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575"/>
            <a:ext cx="119062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549598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325" y="1549598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5792" y="1549598"/>
            <a:ext cx="12382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5792" y="3884711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033289"/>
            <a:ext cx="95250" cy="1047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" y="2876847"/>
            <a:ext cx="95250" cy="1047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3834705"/>
            <a:ext cx="104775" cy="1047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" y="4678263"/>
            <a:ext cx="133350" cy="1047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075" y="5521821"/>
            <a:ext cx="95250" cy="1047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5792" y="1773435"/>
            <a:ext cx="95250" cy="952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25792" y="2059185"/>
            <a:ext cx="95250" cy="952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25792" y="2230635"/>
            <a:ext cx="95250" cy="95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820400" y="3810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JetBrains Mono"/>
              </a:rPr>
              <a:t>PAGE 04 /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81750"/>
            <a:ext cx="2667000" cy="1333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Track 3 Executive Interview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5050" y="6381750"/>
            <a:ext cx="22621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KOHLER Unified Enterprise AI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762" y="400050"/>
            <a:ext cx="2266950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8FAFC"/>
                </a:solidFill>
                <a:latin typeface="Plus Jakarta Sans"/>
              </a:rPr>
              <a:t>BUSINESS IMPACT &amp; DEMO 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9125"/>
            <a:ext cx="9476184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Business Sustainability, Impact &amp;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952500"/>
            <a:ext cx="9024937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Quantifiable enterprise value proposition, 5-minute live demonstration roadmap, and comprehensive submission package.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" y="1535310"/>
            <a:ext cx="4105275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Business Impact &amp;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6300" y="1535310"/>
            <a:ext cx="4546922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Suggested 5-Min Demo 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5817" y="1535310"/>
            <a:ext cx="3266182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Submission Package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5792" y="3865661"/>
            <a:ext cx="3466207" cy="142875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CORE EXECUTIVE MESSAGE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5792" y="4065686"/>
            <a:ext cx="2961382" cy="785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E2E8F0"/>
                </a:solidFill>
                <a:latin typeface="Inter"/>
              </a:rPr>
              <a:t>This platform is engineered as a </a:t>
            </a:r>
            <a:r>
              <a:rPr b="1" sz="825" i="0" u="none">
                <a:solidFill>
                  <a:srgbClr val="E2E8F0"/>
                </a:solidFill>
                <a:latin typeface="Inter"/>
              </a:rPr>
              <a:t>controlled enterprise AI layer</a:t>
            </a:r>
            <a:r>
              <a:rPr b="0" sz="825" i="0" u="none">
                <a:solidFill>
                  <a:srgbClr val="E2E8F0"/>
                </a:solidFill>
                <a:latin typeface="Inter"/>
              </a:rPr>
              <a:t>—not simply a chatbot. Its true value lies in seamlessly connecting natural-language interaction to authorized knowledge retrieval and governed, auditable enterprise actions.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0075" y="2014239"/>
            <a:ext cx="4333875" cy="13335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Inter"/>
              </a:rPr>
              <a:t>Faster Information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075" y="2166639"/>
            <a:ext cx="43338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475569"/>
                </a:solidFill>
                <a:latin typeface="Inter"/>
              </a:rPr>
              <a:t>Employees query cross-departmental knowledge through a single interface.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0075" y="2857797"/>
            <a:ext cx="4333875" cy="13335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Inter"/>
              </a:rPr>
              <a:t>Controlled Enterprise 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075" y="3010197"/>
            <a:ext cx="356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475569"/>
                </a:solidFill>
                <a:latin typeface="Inter"/>
              </a:rPr>
              <a:t>Sensitive changes are strictly permission-checked, human-approved, and logged.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075" y="3815655"/>
            <a:ext cx="4333875" cy="1333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Inter"/>
              </a:rPr>
              <a:t>Scalable Tool Architecture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075" y="3968055"/>
            <a:ext cx="43338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475569"/>
                </a:solidFill>
                <a:latin typeface="Inter"/>
              </a:rPr>
              <a:t>Scales seamlessly to HRIS, ERP, CRM, finance, and inventory backends.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075" y="4659213"/>
            <a:ext cx="4333875" cy="1333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Inter"/>
              </a:rPr>
              <a:t>Reduced Data Exposure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075" y="4811613"/>
            <a:ext cx="43338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475569"/>
                </a:solidFill>
                <a:latin typeface="Inter"/>
              </a:rPr>
              <a:t>RBAC and permission-aware retrieval limit data access by role.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0075" y="5502771"/>
            <a:ext cx="4333875" cy="13335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Inter"/>
              </a:rPr>
              <a:t>Safe Prototyping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0075" y="5655171"/>
            <a:ext cx="43338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475569"/>
                </a:solidFill>
                <a:latin typeface="Inter"/>
              </a:rPr>
              <a:t>Synthetic data proves architecture without exposing live PII/financials.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1050" y="1811535"/>
            <a:ext cx="904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C2410C"/>
                </a:solidFill>
                <a:latin typeface="JetBrains Mono"/>
              </a:rPr>
              <a:t>0:00-0:30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6375" y="1816298"/>
            <a:ext cx="313134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Problem &amp; Architecture: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Overview of governance gap.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1050" y="2388096"/>
            <a:ext cx="904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C2410C"/>
                </a:solidFill>
                <a:latin typeface="JetBrains Mono"/>
              </a:rPr>
              <a:t>0:30-1:10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86375" y="2392858"/>
            <a:ext cx="283368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Login + RBAC: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Role-based UI view demonstration.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1050" y="2964656"/>
            <a:ext cx="904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C2410C"/>
                </a:solidFill>
                <a:latin typeface="JetBrains Mono"/>
              </a:rPr>
              <a:t>1:10-2:00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86375" y="2969418"/>
            <a:ext cx="296465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RAG Query: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Unstructured policy document retrieval.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1050" y="3541216"/>
            <a:ext cx="904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C2410C"/>
                </a:solidFill>
                <a:latin typeface="JetBrains Mono"/>
              </a:rPr>
              <a:t>2:00-2:40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86375" y="3545978"/>
            <a:ext cx="301228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Live DB Query: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Structured employee/inventory state.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1050" y="4117776"/>
            <a:ext cx="904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C2410C"/>
                </a:solidFill>
                <a:latin typeface="JetBrains Mono"/>
              </a:rPr>
              <a:t>2:40-3:30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86375" y="4122539"/>
            <a:ext cx="270271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Modification: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Triggering HITL approval request.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91050" y="4694336"/>
            <a:ext cx="904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C2410C"/>
                </a:solidFill>
                <a:latin typeface="JetBrains Mono"/>
              </a:rPr>
              <a:t>3:30-4:10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86375" y="4699099"/>
            <a:ext cx="301228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GM Approval: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Executive authorization &amp; DB mutation.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91050" y="5270896"/>
            <a:ext cx="904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C2410C"/>
                </a:solidFill>
                <a:latin typeface="JetBrains Mono"/>
              </a:rPr>
              <a:t>4:10-4:40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86375" y="5275659"/>
            <a:ext cx="29289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Verification: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Re-querying live DB for updated state.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91050" y="5847457"/>
            <a:ext cx="904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C2410C"/>
                </a:solidFill>
                <a:latin typeface="JetBrains Mono"/>
              </a:rPr>
              <a:t>4:40-5:00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86375" y="5852219"/>
            <a:ext cx="286940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1E293B"/>
                </a:solidFill>
                <a:latin typeface="Inter"/>
              </a:rPr>
              <a:t>Audit Trail:</a:t>
            </a:r>
            <a:r>
              <a:rPr b="0" sz="750" i="0" u="none">
                <a:solidFill>
                  <a:srgbClr val="1E293B"/>
                </a:solidFill>
                <a:latin typeface="Inter"/>
              </a:rPr>
              <a:t> Inspecting action logs &amp; differentiators.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